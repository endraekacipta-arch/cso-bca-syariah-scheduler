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CSO BCA Syariah Scheduler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Rules-Driven Constraint Solver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1546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Otomasi Penjadwalan Fair &amp; Transparan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0" y="393192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0" y="3931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6  •  Production Ready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8412480" cy="0"/>
          </a:xfrm>
          <a:prstGeom prst="line">
            <a:avLst/>
          </a:prstGeom>
          <a:noFill/>
          <a:ln w="31750">
            <a:solidFill>
              <a:srgbClr val="F4D0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3840480" cy="2743200"/>
          </a:xfrm>
          <a:prstGeom prst="roundRect">
            <a:avLst>
              <a:gd name="adj" fmla="val 2667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(Manual)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Waktu: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jam per bulan
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rate: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Tinggi
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violations: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Sering terjadi
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Fairness: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Subyektif
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Carry-over antar bulan: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dicek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937760" y="1051560"/>
            <a:ext cx="3840480" cy="2743200"/>
          </a:xfrm>
          <a:prstGeom prst="roundRect">
            <a:avLst>
              <a:gd name="adj" fmla="val 266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7492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SESUDAH (Otomasi)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4920" y="1572768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Waktu: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detik
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rate: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
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violations: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(auto-fix)
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Fairness: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Matematis
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Carry-over antar bulan: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Terdeteksi otomatis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397764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39776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GAIN: 16–32× lebih cepat  •  90% error reduction  •  Cross-month analysis  ✓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Rules (14 Rules)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8412480" cy="0"/>
          </a:xfrm>
          <a:prstGeom prst="line">
            <a:avLst/>
          </a:prstGeom>
          <a:noFill/>
          <a:ln w="31750">
            <a:solidFill>
              <a:srgbClr val="F4D0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743200" cy="2743200"/>
          </a:xfrm>
          <a:prstGeom prst="roundRect">
            <a:avLst>
              <a:gd name="adj" fmla="val 266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06984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RULES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R1A: Shift drop ≤ 3 level per hari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956816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R1B: Max 5 hari kerja berturut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432304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R2: OFF per CSO = target awal bulan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90779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R3: Max 3 OFF berturut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743200" cy="2743200"/>
          </a:xfrm>
          <a:prstGeom prst="roundRect">
            <a:avLst>
              <a:gd name="adj" fmla="val 266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55848" y="106984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KAPASITAS HARIAN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1481328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R4: CUTI tidak di hari libur/weekend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83280" y="1956816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R7: Daily kuota S6/S8/S9/S11/S13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83280" y="2432304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R5: CB → CUTI bukan OFF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83280" y="290779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R6: Shift suffix L (libur) / X (CB)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743200" cy="2743200"/>
          </a:xfrm>
          <a:prstGeom prst="roundRect">
            <a:avLst>
              <a:gd name="adj" fmla="val 2667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36208" y="106984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1481328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R10: Flat CSO → S8/S9 weekday only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63640" y="1956816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R11: BB/TK/CCT/CSPV/CM/SAKIT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63640" y="2432304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R12: Muslim pria max S9/S13 Jumat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63640" y="290779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R13: Resign → OFF dari tgl efektif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858768"/>
            <a:ext cx="8412480" cy="941832"/>
          </a:xfrm>
          <a:prstGeom prst="roundRect">
            <a:avLst>
              <a:gd name="adj" fmla="val 7767"/>
            </a:avLst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39136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R14: Request OFF/CUTI Priority System  (NEW in v6)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427024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ACC (Fixed):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konfirmasi → wajib OFF, tidak bisa digeser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Pending: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acc jika slot tersedia; jika penuh → random + relokasi hari lain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No Request: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Sisa slot setelah Tier 1 &amp; 2 terpenuhi, fully random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4-Phase Algorithm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8412480" cy="0"/>
          </a:xfrm>
          <a:prstGeom prst="line">
            <a:avLst/>
          </a:prstGeom>
          <a:noFill/>
          <a:ln w="31750">
            <a:solidFill>
              <a:srgbClr val="F4D0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24128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789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Lock Fixed Dates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Resign · CUTI · ACC Request OFF · Flat Rule · Carry-Over Streak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0" y="135331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~35-40% jadwal sudah filled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06240" y="1874520"/>
            <a:ext cx="0" cy="54864"/>
          </a:xfrm>
          <a:prstGeom prst="line">
            <a:avLst/>
          </a:prstGeom>
          <a:noFill/>
          <a:ln w="25400">
            <a:solidFill>
              <a:srgbClr val="F4D0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956816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011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Day-by-Day Assignment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32257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Pace-based OFF · Tier 1/2/3 Request Priority · Kuota per shift · Relokasi losers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0" y="22860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Exact kuota per hari, request OFF honored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06240" y="2807208"/>
            <a:ext cx="0" cy="54864"/>
          </a:xfrm>
          <a:prstGeom prst="line">
            <a:avLst/>
          </a:prstGeom>
          <a:noFill/>
          <a:ln w="25400">
            <a:solidFill>
              <a:srgbClr val="F4D0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889504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2944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Iterative Balancing (3× cycle)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25526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runBalancing · runSameDay · fixStreaks · fixConsecOFF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0" y="321868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0 violations OFF/streak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06240" y="3739896"/>
            <a:ext cx="0" cy="54864"/>
          </a:xfrm>
          <a:prstGeom prst="line">
            <a:avLst/>
          </a:prstGeom>
          <a:noFill/>
          <a:ln w="25400">
            <a:solidFill>
              <a:srgbClr val="F4D03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822192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387705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Final Cleanup + Validation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418795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1A fix · Full validation report · Cross-month violation check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415137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Schedule + Violations report siap export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1: Lock Fixed Dates (Logic)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8412480" cy="0"/>
          </a:xfrm>
          <a:prstGeom prst="line">
            <a:avLst/>
          </a:prstGeom>
          <a:noFill/>
          <a:ln w="31750">
            <a:solidFill>
              <a:srgbClr val="F4D0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5074920" cy="3703320"/>
          </a:xfrm>
          <a:prstGeom prst="roundRect">
            <a:avLst>
              <a:gd name="adj" fmla="val 1975"/>
            </a:avLst>
          </a:prstGeom>
          <a:solidFill>
            <a:srgbClr val="0D1117"/>
          </a:solidFill>
          <a:ln w="12700">
            <a:solidFill>
              <a:srgbClr val="1C25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" y="1143000"/>
            <a:ext cx="4800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Per CSO, kumpulkan fixed states: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(hari &gt;= resignDate)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schedule[CSO][hari] = 'RESIGN'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(cutiSet.includes(hari))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schedule[CSO][hari] = 'CUTI'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Tier 1: ACC Request OFF (locked)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(r.acc &amp;&amp; reqOffSet.size &lt; tOff)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reqOffSet.add(hari)  // → akan di-lock di Phase 2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Tier 2: Pending Request (soft priority)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(!r.acc)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softReqSet.add(hari) // → priority tapi bisa kalah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Flat CSO: OFF di weekend/TM/CB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(flatPeriod &amp;&amp; isWeekend)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schedule[CSO][hari] = 'OFF'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Carry-over streak dari bulan lalu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carryStreak[CSO] = streakDariUjungBulanLalu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532120" y="1005840"/>
            <a:ext cx="3246120" cy="1783080"/>
          </a:xfrm>
          <a:prstGeom prst="roundRect">
            <a:avLst>
              <a:gd name="adj" fmla="val 410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0" y="10789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MENGUMPULKAN jadwal SUDAH PASTI: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0" y="1426464"/>
            <a:ext cx="2971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Resign: CSO di daftar resign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0" y="1645920"/>
            <a:ext cx="2971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CUTI: CSO minta cuti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0" y="1865376"/>
            <a:ext cx="2971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 OFF: operator confirm fix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0" y="2084832"/>
            <a:ext cx="2971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Pending: soft priority queue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0" y="2304288"/>
            <a:ext cx="2971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Flat: auto OFF di hari libur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0" y="2523744"/>
            <a:ext cx="2971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Carry-Over: streak bulan lalu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32120" y="2944368"/>
            <a:ext cx="3246120" cy="594360"/>
          </a:xfrm>
          <a:prstGeom prst="roundRect">
            <a:avLst>
              <a:gd name="adj" fmla="val 12308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0" y="298094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HASIL: ~35-40% jadwal fixed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 untuk Phase 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32120" y="365760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0" y="37124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BARU v6: Carry-Over Streak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0" y="40050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CSO kerja 5 hari di ujung bulan lalu → tgl 1 bulan baru wajib OFF. Cegah R1B breach lintas bulan.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2: Request Priority OFF Distribution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8412480" cy="0"/>
          </a:xfrm>
          <a:prstGeom prst="line">
            <a:avLst/>
          </a:prstGeom>
          <a:noFill/>
          <a:ln w="31750">
            <a:solidFill>
              <a:srgbClr val="F4D0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5074920" cy="3703320"/>
          </a:xfrm>
          <a:prstGeom prst="roundRect">
            <a:avLst>
              <a:gd name="adj" fmla="val 1975"/>
            </a:avLst>
          </a:prstGeom>
          <a:solidFill>
            <a:srgbClr val="0D1117"/>
          </a:solidFill>
          <a:ln w="12700">
            <a:solidFill>
              <a:srgbClr val="1C25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" y="1143000"/>
            <a:ext cx="4800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Slot OFF tersedia per hari: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slotOff = nCSO - kuotaKerja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kuotaKerja = S6+S8+S9+S11+S13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TIER 1: ACC (locked, already set Phase 1)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lockedOff = CSOs.filter(c =&gt; c.reqOffSet.has(hari))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TIER 2: Pending Request → priority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remSoftReq = pool.filter(c =&gt; c.softReqSet.has(hari))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softWinners = remSoftReq.slice(0, slotsLeft)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softLosers  = remSoftReq.slice(slotsLeft)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Tier 2 losers: relocate to best day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softLosers.forEach(c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Find day: least other requests + fewest OFFs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relocDay = findBestRelocationDay(c)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schedule[c][relocDay] = 'OFF'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TIER 3: No request, fill remaining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noReqWinners = noReq.slice(0, slotsLeft)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OFF pace sort (behind pace → priority)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pace = actualOFF/daysSoFar - targetOFF/totalDays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532120" y="100584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0" y="10789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ACC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0" y="13898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Operator fix → locked OFF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69280" y="16276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Tidak bisa digeser/random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0" y="186537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Selalu dihormati 100%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532120" y="224028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0" y="23134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Pending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0" y="26243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Priority acc jika slot ada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69280" y="286207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Jika penuh → random antar sesama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0" y="309981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Yang kalah → relokasi ke hari lain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32120" y="347472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0" y="35478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No Request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0" y="38587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Sisa slot setelah Tier 1&amp;2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69280" y="40965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Pace-based sort (behind = priority)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69280" y="433425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Fully random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32120" y="4681728"/>
            <a:ext cx="3246120" cy="365760"/>
          </a:xfrm>
          <a:prstGeom prst="roundRect">
            <a:avLst>
              <a:gd name="adj" fmla="val 2000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69280" y="46817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HASIL: Request dijamin adil + slot tidak terbuang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2: Fill Shift Slots &amp; BCA Syariah Kuota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8412480" cy="0"/>
          </a:xfrm>
          <a:prstGeom prst="line">
            <a:avLst/>
          </a:prstGeom>
          <a:noFill/>
          <a:ln w="31750">
            <a:solidFill>
              <a:srgbClr val="F4D0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5074920" cy="2606040"/>
          </a:xfrm>
          <a:prstGeom prst="roundRect">
            <a:avLst>
              <a:gd name="adj" fmla="val 2807"/>
            </a:avLst>
          </a:prstGeom>
          <a:solidFill>
            <a:srgbClr val="0D1117"/>
          </a:solidFill>
          <a:ln w="12700">
            <a:solidFill>
              <a:srgbClr val="1C25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" y="1143000"/>
            <a:ext cx="4800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BCA Syariah standard kuota per hari: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kuotaPerDay = (nCSO×days - nCSO×totalOff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       - nCSO×totalCuti) / days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S6  ≈ 30% kuotaPerDay  (dominan)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S13 ≈ 35% kuotaPerDay  (dominan)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Sisa ≈ 35% → S8:S9:S11 = 2:1:2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Fill shift per kuota (S6 → S8 → S9 → S11 → S13)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(shift of ['S6','S8','S9','S11','S13'])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need = kuota[shift]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pool.filter(eligible).slice(0, need)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.forEach(c =&gt; schedule[c][hari] = shift)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Remaining → OFF (via Tier priority)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3749040"/>
            <a:ext cx="5074920" cy="1005840"/>
          </a:xfrm>
          <a:prstGeom prst="roundRect">
            <a:avLst>
              <a:gd name="adj" fmla="val 7273"/>
            </a:avLst>
          </a:prstGeom>
          <a:solidFill>
            <a:srgbClr val="0D1117"/>
          </a:solidFill>
          <a:ln w="12700">
            <a:solidFill>
              <a:srgbClr val="1C25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388620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Auto-Adjust formula (tombol Step 5):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  = round(kuotaPerDay × 0.30)  // min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s13 = round(kuotaPerDay × 0.35)  // min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sisa = kuotaPerDay - s6 - s13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 = floor(sisa × 2/5), s9 = floor(sisa × 1/5)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s11 = sisa - s8 - s9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532120" y="1005840"/>
            <a:ext cx="3246120" cy="347472"/>
          </a:xfrm>
          <a:prstGeom prst="roundRect">
            <a:avLst>
              <a:gd name="adj" fmla="val 21053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577840" y="10424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Syariah Standard Kuota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532120" y="1353312"/>
            <a:ext cx="813816" cy="393192"/>
          </a:xfrm>
          <a:prstGeom prst="roundRect">
            <a:avLst>
              <a:gd name="adj" fmla="val 1860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32120" y="1353312"/>
            <a:ext cx="813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45936" y="1353312"/>
            <a:ext cx="813816" cy="393192"/>
          </a:xfrm>
          <a:prstGeom prst="roundRect">
            <a:avLst>
              <a:gd name="adj" fmla="val 1860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45936" y="1353312"/>
            <a:ext cx="813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Proporsi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159752" y="1353312"/>
            <a:ext cx="813816" cy="393192"/>
          </a:xfrm>
          <a:prstGeom prst="roundRect">
            <a:avLst>
              <a:gd name="adj" fmla="val 1860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59752" y="1353312"/>
            <a:ext cx="813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(20/hari)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973568" y="1353312"/>
            <a:ext cx="813816" cy="393192"/>
          </a:xfrm>
          <a:prstGeom prst="roundRect">
            <a:avLst>
              <a:gd name="adj" fmla="val 1860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973568" y="1353312"/>
            <a:ext cx="813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32120" y="1746504"/>
            <a:ext cx="813816" cy="393192"/>
          </a:xfrm>
          <a:prstGeom prst="roundRect">
            <a:avLst>
              <a:gd name="adj" fmla="val 18605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32120" y="1746504"/>
            <a:ext cx="813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45936" y="1746504"/>
            <a:ext cx="813816" cy="393192"/>
          </a:xfrm>
          <a:prstGeom prst="roundRect">
            <a:avLst>
              <a:gd name="adj" fmla="val 18605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45936" y="1746504"/>
            <a:ext cx="813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159752" y="1746504"/>
            <a:ext cx="813816" cy="393192"/>
          </a:xfrm>
          <a:prstGeom prst="roundRect">
            <a:avLst>
              <a:gd name="adj" fmla="val 18605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59752" y="1746504"/>
            <a:ext cx="813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orang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973568" y="1746504"/>
            <a:ext cx="813816" cy="393192"/>
          </a:xfrm>
          <a:prstGeom prst="roundRect">
            <a:avLst>
              <a:gd name="adj" fmla="val 18605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973568" y="1746504"/>
            <a:ext cx="813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32120" y="2139696"/>
            <a:ext cx="813816" cy="393192"/>
          </a:xfrm>
          <a:prstGeom prst="roundRect">
            <a:avLst>
              <a:gd name="adj" fmla="val 18605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532120" y="2139696"/>
            <a:ext cx="813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45936" y="2139696"/>
            <a:ext cx="813816" cy="393192"/>
          </a:xfrm>
          <a:prstGeom prst="roundRect">
            <a:avLst>
              <a:gd name="adj" fmla="val 18605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45936" y="2139696"/>
            <a:ext cx="813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159752" y="2139696"/>
            <a:ext cx="813816" cy="393192"/>
          </a:xfrm>
          <a:prstGeom prst="roundRect">
            <a:avLst>
              <a:gd name="adj" fmla="val 18605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159752" y="2139696"/>
            <a:ext cx="813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orang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973568" y="2139696"/>
            <a:ext cx="813816" cy="393192"/>
          </a:xfrm>
          <a:prstGeom prst="roundRect">
            <a:avLst>
              <a:gd name="adj" fmla="val 18605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973568" y="2139696"/>
            <a:ext cx="813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532120" y="2532888"/>
            <a:ext cx="813816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532120" y="2532888"/>
            <a:ext cx="813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45936" y="2532888"/>
            <a:ext cx="813816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45936" y="2532888"/>
            <a:ext cx="813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~19%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159752" y="2532888"/>
            <a:ext cx="813816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159752" y="2532888"/>
            <a:ext cx="813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orang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973568" y="2532888"/>
            <a:ext cx="813816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973568" y="2532888"/>
            <a:ext cx="813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532120" y="2926080"/>
            <a:ext cx="813816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532120" y="2926080"/>
            <a:ext cx="813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45936" y="2926080"/>
            <a:ext cx="813816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345936" y="2926080"/>
            <a:ext cx="813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~10%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159752" y="2926080"/>
            <a:ext cx="813816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159752" y="2926080"/>
            <a:ext cx="813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orang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973568" y="2926080"/>
            <a:ext cx="813816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973568" y="2926080"/>
            <a:ext cx="813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532120" y="3319272"/>
            <a:ext cx="813816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532120" y="3319272"/>
            <a:ext cx="813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345936" y="3319272"/>
            <a:ext cx="813816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345936" y="3319272"/>
            <a:ext cx="813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~21%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159752" y="3319272"/>
            <a:ext cx="813816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159752" y="3319272"/>
            <a:ext cx="813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orang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973568" y="3319272"/>
            <a:ext cx="813816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7973568" y="3319272"/>
            <a:ext cx="813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532120" y="3712464"/>
            <a:ext cx="813816" cy="393192"/>
          </a:xfrm>
          <a:prstGeom prst="roundRect">
            <a:avLst>
              <a:gd name="adj" fmla="val 18605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532120" y="3712464"/>
            <a:ext cx="813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345936" y="3712464"/>
            <a:ext cx="813816" cy="393192"/>
          </a:xfrm>
          <a:prstGeom prst="roundRect">
            <a:avLst>
              <a:gd name="adj" fmla="val 18605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6345936" y="3712464"/>
            <a:ext cx="813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159752" y="3712464"/>
            <a:ext cx="813816" cy="393192"/>
          </a:xfrm>
          <a:prstGeom prst="roundRect">
            <a:avLst>
              <a:gd name="adj" fmla="val 18605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7159752" y="3712464"/>
            <a:ext cx="813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orang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973568" y="3712464"/>
            <a:ext cx="813816" cy="393192"/>
          </a:xfrm>
          <a:prstGeom prst="roundRect">
            <a:avLst>
              <a:gd name="adj" fmla="val 18605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7973568" y="3712464"/>
            <a:ext cx="813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5532120" y="4069080"/>
            <a:ext cx="3246120" cy="685800"/>
          </a:xfrm>
          <a:prstGeom prst="roundRect">
            <a:avLst>
              <a:gd name="adj" fmla="val 10667"/>
            </a:avLst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5669280" y="41148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Auto-Adjust (Step 5)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5669280" y="43891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untuk otomatis set kuota matematis-konsisten. S6+S13 dominan ~65%.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3: runBalancing (Fix Supply)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8412480" cy="0"/>
          </a:xfrm>
          <a:prstGeom prst="line">
            <a:avLst/>
          </a:prstGeom>
          <a:noFill/>
          <a:ln w="31750">
            <a:solidFill>
              <a:srgbClr val="F4D0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5074920" cy="3703320"/>
          </a:xfrm>
          <a:prstGeom prst="roundRect">
            <a:avLst>
              <a:gd name="adj" fmla="val 1975"/>
            </a:avLst>
          </a:prstGeom>
          <a:solidFill>
            <a:srgbClr val="0D1117"/>
          </a:solidFill>
          <a:ln w="12700">
            <a:solidFill>
              <a:srgbClr val="1C25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" y="1143000"/>
            <a:ext cx="4800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Setiap hari, cek: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actual = countWorkers(hari)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target = kuota[hari]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(actual &gt; target)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Over-supply: konversi worker → OFF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candidates = workers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.filter(c =&gt; !makes3Off(c))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.sort((a,b) =&gt;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needOff(a) - needOff(b) // behind pace first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candidates.slice(0, actual-target)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.forEach(c =&gt; schedule[c][hari] = 'OFF')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(actual &lt; target)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Under-supply: konversi OFF → worker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offCsos = getOff(hari)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.sort((a,b) =&gt;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excessOff(b) - excessOff(a) // over-Off first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offCsos.forEach(c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shift = bestShift(c)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schedule[c][hari] = shift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Repeat 3x until stable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532120" y="100584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0" y="10789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OVER-SUPPLY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0" y="14630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Butuh 20 orang, ada 22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0" y="17373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Konversi 2 jadi OFF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0" y="20116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Prioritas: paling banyak OFF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532120" y="251460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0" y="2587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UNDER-SUPPLY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0" y="29718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Butuh 20 orang, cuma 18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0" y="32461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Konversi 2 OFF jadi kerja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0" y="35204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Prioritas: paling kelebihan OFF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32120" y="4041648"/>
            <a:ext cx="3246120" cy="658368"/>
          </a:xfrm>
          <a:prstGeom prst="roundRect">
            <a:avLst>
              <a:gd name="adj" fmla="val 11111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0" y="4059936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(setelah 3×):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Supply exact  ✓ OFF adil  ✓ Konvergen cepat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3: runSameDay (Neutral Swap)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8412480" cy="0"/>
          </a:xfrm>
          <a:prstGeom prst="line">
            <a:avLst/>
          </a:prstGeom>
          <a:noFill/>
          <a:ln w="31750">
            <a:solidFill>
              <a:srgbClr val="F4D0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5074920" cy="3703320"/>
          </a:xfrm>
          <a:prstGeom prst="roundRect">
            <a:avLst>
              <a:gd name="adj" fmla="val 1975"/>
            </a:avLst>
          </a:prstGeom>
          <a:solidFill>
            <a:srgbClr val="0D1117"/>
          </a:solidFill>
          <a:ln w="12700">
            <a:solidFill>
              <a:srgbClr val="1C25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" y="1143000"/>
            <a:ext cx="4800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Tukar OFF ↔ Kerja same day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Supply tetap, OFF redistrib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overOff = CSOs.filter(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 =&gt; OFF[c] &gt; target[c]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underOff = CSOs.filter(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 =&gt; OFF[c] &lt; target[c]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cOver of overOff)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(const cUnder of underOff)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shift = bestShift(cOver)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(shift &amp;&amp; canConvert(cUnder)){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schedule[cOver][hari]  = shift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schedule[cUnder][hari] = 'OFF'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break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532120" y="1005840"/>
            <a:ext cx="3246120" cy="1161288"/>
          </a:xfrm>
          <a:prstGeom prst="roundRect">
            <a:avLst>
              <a:gd name="adj" fmla="val 6299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0" y="10789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0" y="14081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CSO A: 10 OFF (target 9) = EXCESS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69280" y="16550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CSO B: 8 OFF (target 9) = DEFICIT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0" y="190195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day swap neutral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532120" y="2304288"/>
            <a:ext cx="3246120" cy="1161288"/>
          </a:xfrm>
          <a:prstGeom prst="roundRect">
            <a:avLst>
              <a:gd name="adj" fmla="val 629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0" y="23774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EXECUTION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0" y="270662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CSO A: OFF → KERJA (shift terbaik)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69280" y="295351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CSO B: KERJA → OFF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0" y="32004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worker hari itu = tetap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32120" y="3602736"/>
            <a:ext cx="3246120" cy="1161288"/>
          </a:xfrm>
          <a:prstGeom prst="roundRect">
            <a:avLst>
              <a:gd name="adj" fmla="val 629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0" y="36758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0" y="400507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Worker count = tidak berubah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69280" y="42519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CSO A OFF berkurang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69280" y="449884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CSO B OFF bertambah — Fair!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3: fixStreaks &amp; fixConsecOFF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8412480" cy="0"/>
          </a:xfrm>
          <a:prstGeom prst="line">
            <a:avLst/>
          </a:prstGeom>
          <a:noFill/>
          <a:ln w="31750">
            <a:solidFill>
              <a:srgbClr val="F4D0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5074920" cy="3703320"/>
          </a:xfrm>
          <a:prstGeom prst="roundRect">
            <a:avLst>
              <a:gd name="adj" fmla="val 1975"/>
            </a:avLst>
          </a:prstGeom>
          <a:solidFill>
            <a:srgbClr val="0D1117"/>
          </a:solidFill>
          <a:ln w="12700">
            <a:solidFill>
              <a:srgbClr val="1C25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" y="1143000"/>
            <a:ext cx="4800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Fix Rule 1B: 6+ work days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cso of CSOs)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streak = 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(const hari of days)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(isWork(hari)) streak++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(streak &gt;= 6)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Insert OFF di tengah streak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mid = start + (end-start)/2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schedule[cso][mid] = 'OFF'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streak = 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Fix Rule 3: 3+ consecutive OFF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cso of CSOs)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(const hari of days)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(consecOff &gt;= 3)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shift = bestShift()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schedule[cso][hari] = shift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CUTI counts as work for streak!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OFF breaks streak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532120" y="1005840"/>
            <a:ext cx="3246120" cy="1161288"/>
          </a:xfrm>
          <a:prstGeom prst="roundRect">
            <a:avLst>
              <a:gd name="adj" fmla="val 629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0" y="10789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VIOLATION: 6+ Kerja (R1B)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0" y="14081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Kerja×6 = sudah pelanggaran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69280" y="16550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FIX: Insert OFF di tengah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0" y="190195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Result: Kerja×3 OFF Kerja×3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532120" y="2304288"/>
            <a:ext cx="3246120" cy="1161288"/>
          </a:xfrm>
          <a:prstGeom prst="roundRect">
            <a:avLst>
              <a:gd name="adj" fmla="val 6299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0" y="23774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VIOLATION: 3+ OFF (R3)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0" y="270662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OFF×3 = sudah pelanggaran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69280" y="295351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FIX: Konversi OFF ke shift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0" y="32004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 Rule 1A aman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32120" y="3602736"/>
            <a:ext cx="3246120" cy="1161288"/>
          </a:xfrm>
          <a:prstGeom prst="roundRect">
            <a:avLst>
              <a:gd name="adj" fmla="val 629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0" y="36758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0" y="400507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0 Streaks &gt; 5 hari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69280" y="42519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0 Consecutive OFF &gt; 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69280" y="449884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CUTI = kerja (untuk streak)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69280" y="474573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Rules enforced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Pace-Based Sort: Before vs After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8412480" cy="0"/>
          </a:xfrm>
          <a:prstGeom prst="line">
            <a:avLst/>
          </a:prstGeom>
          <a:noFill/>
          <a:ln w="31750">
            <a:solidFill>
              <a:srgbClr val="F4D0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5074920" cy="3703320"/>
          </a:xfrm>
          <a:prstGeom prst="roundRect">
            <a:avLst>
              <a:gd name="adj" fmla="val 1975"/>
            </a:avLst>
          </a:prstGeom>
          <a:solidFill>
            <a:srgbClr val="0D1117"/>
          </a:solidFill>
          <a:ln w="12700">
            <a:solidFill>
              <a:srgbClr val="1C25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" y="1143000"/>
            <a:ext cx="4800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PACE FORMULA: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pace = (actualOFF / daysSoFar) -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(targetOFF / totalDays)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CONTOH (Day 10, target=9 OFF/31):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Target per day ≈ 0.29 OFF/day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CSO A: actual=3 → pace=+0.01 (ahead)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CSO B: actual=2 → pace=-0.09 (behind)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SORT POOL (4 tiers):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pool.sort((a, b)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T1: ACC request OFF → back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if(a.hasAccReqOff) return +1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T2: Streak 5 hari → must rest → back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if(a.streak &gt;= 5)  return +1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T3: Pace (negative = behind = needs OFF)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b.pace - a.pace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T4: Rule 1A level constraint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BACK of pool = fill OFF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FRONT of pool = fill shifts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532120" y="1005840"/>
            <a:ext cx="3246120" cy="1161288"/>
          </a:xfrm>
          <a:prstGeom prst="roundRect">
            <a:avLst>
              <a:gd name="adj" fmla="val 6299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0" y="10789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(Random Sort)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0" y="1408176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1:  [0,0,0,0,0]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0" y="1627632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10: [3,7,2,9,4]  spread=7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0" y="1847088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31: [6,14,8,10,5] spread=9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0" y="2066544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3: heavy rebalancing needed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532120" y="2304288"/>
            <a:ext cx="3246120" cy="1161288"/>
          </a:xfrm>
          <a:prstGeom prst="roundRect">
            <a:avLst>
              <a:gd name="adj" fmla="val 629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0" y="23774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(Pace Sort)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2706624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1:  [0,0,0,0,0]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0" y="2926080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10: [3,3,3,3,3]  spread=0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0" y="3145536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31: [9,9,9,10,9] spread=1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0" y="3364992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3: light cleanup only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32120" y="3602736"/>
            <a:ext cx="3246120" cy="1161288"/>
          </a:xfrm>
          <a:prstGeom prst="roundRect">
            <a:avLst>
              <a:gd name="adj" fmla="val 6299"/>
            </a:avLst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69280" y="36758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0" y="4005072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OFF merata dari hari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69280" y="4224528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Phase 3 convergence cepat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0" y="4443984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Kurang osilasi/jumping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&amp; Success Metrics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8412480" cy="0"/>
          </a:xfrm>
          <a:prstGeom prst="line">
            <a:avLst/>
          </a:prstGeom>
          <a:noFill/>
          <a:ln w="31750">
            <a:solidFill>
              <a:srgbClr val="F4D0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5029200" cy="3703320"/>
          </a:xfrm>
          <a:prstGeom prst="roundRect">
            <a:avLst>
              <a:gd name="adj" fmla="val 197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789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CHECKED (Automated):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481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R1A: Shift drop ≤ 3 level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20440" y="1481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0 violations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199339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R1B: Max 5 kerja berturut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20440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0 violations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523744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542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R2: OFF per CSO = target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20440" y="25420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Conditional ⚠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05409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054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0723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R3: Max 3 OFF berturut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520440" y="307238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0 violations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58444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3584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6027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R7: Daily kuota exact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520440" y="360273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0 violations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411480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4114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1330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R14: Request OFF priority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520440" y="41330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ACC: 100% • Pending: best-effort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532120" y="1005840"/>
            <a:ext cx="3246120" cy="3703320"/>
          </a:xfrm>
          <a:prstGeom prst="roundRect">
            <a:avLst>
              <a:gd name="adj" fmla="val 2254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66928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D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69280" y="153619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&lt; 5 detik eksekusi Phase 1-4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0" y="199339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Schedule valid, ready-to-use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0" y="245059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Export CSV + Config JSON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69280" y="290779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Edit manual cell di Step 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0" y="336499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Violations report real-time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6-Step User Flow + Automation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8412480" cy="0"/>
          </a:xfrm>
          <a:prstGeom prst="line">
            <a:avLst/>
          </a:prstGeom>
          <a:noFill/>
          <a:ln w="31750">
            <a:solidFill>
              <a:srgbClr val="F4D0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24128"/>
            <a:ext cx="4206240" cy="1078992"/>
          </a:xfrm>
          <a:prstGeom prst="roundRect">
            <a:avLst>
              <a:gd name="adj" fmla="val 678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338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11556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Input Basic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499616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bulan, totalOff=9, totalCuti=1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2286000"/>
            <a:ext cx="4206240" cy="1078992"/>
          </a:xfrm>
          <a:prstGeom prst="roundRect">
            <a:avLst>
              <a:gd name="adj" fmla="val 678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3957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3774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Special Dates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761488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tanggal merah, cuti bersama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547872"/>
            <a:ext cx="4206240" cy="1078992"/>
          </a:xfrm>
          <a:prstGeom prst="roundRect">
            <a:avLst>
              <a:gd name="adj" fmla="val 678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657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63931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CSO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402336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30+ CSO list (Nama | Site | Skill)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1024128"/>
            <a:ext cx="4206240" cy="1078992"/>
          </a:xfrm>
          <a:prstGeom prst="roundRect">
            <a:avLst>
              <a:gd name="adj" fmla="val 678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1338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40680" y="111556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CSO Khusus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1499616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Resign, Flat, Muslim, Request OFF/CUTI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286000"/>
            <a:ext cx="4206240" cy="1078992"/>
          </a:xfrm>
          <a:prstGeom prst="roundRect">
            <a:avLst>
              <a:gd name="adj" fmla="val 678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3957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40680" y="23774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Kuota Config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40680" y="2761488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S6/S8/S9/S11/S13 per tanggal + Auto-Adjust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547872"/>
            <a:ext cx="4206240" cy="1078992"/>
          </a:xfrm>
          <a:prstGeom prst="roundRect">
            <a:avLst>
              <a:gd name="adj" fmla="val 678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657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463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40680" y="363931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AUTOMATION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0680" y="402336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1→2→3→4 execute &lt; 5 detik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 Management — Save / Load / Analisis (NEW v6)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8412480" cy="0"/>
          </a:xfrm>
          <a:prstGeom prst="line">
            <a:avLst/>
          </a:prstGeom>
          <a:noFill/>
          <a:ln w="31750">
            <a:solidFill>
              <a:srgbClr val="F4D0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651760" cy="3703320"/>
          </a:xfrm>
          <a:prstGeom prst="roundRect">
            <a:avLst>
              <a:gd name="adj" fmla="val 2759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155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💾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Config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2377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JSON berisi: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 1-6 semua state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Schedule + Istirahat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Violations report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27832" y="1005840"/>
            <a:ext cx="2651760" cy="3703320"/>
          </a:xfrm>
          <a:prstGeom prst="roundRect">
            <a:avLst>
              <a:gd name="adj" fmla="val 275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27832" y="11155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📂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319272" y="1737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Config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364992" y="2240280"/>
            <a:ext cx="2377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56432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JSON sebelumnya: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56432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Restore semua step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56432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Jadwal langsung tampil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56432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 3-6 auto-render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89904" y="1005840"/>
            <a:ext cx="2651760" cy="3703320"/>
          </a:xfrm>
          <a:prstGeom prst="roundRect">
            <a:avLst>
              <a:gd name="adj" fmla="val 2759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89904" y="11155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181344" y="1737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Analisis Config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27064" y="2240280"/>
            <a:ext cx="2377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18504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JSON bulan lalu: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18504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Analisa carry-over streak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18504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Deteksi potensi violations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18504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CSO list di-load ke Step 3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4773168"/>
            <a:ext cx="8412480" cy="256032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Kotak Config Management selalu terlihat di atas Step 1 — dapat diakses kapan saja tanpa navigasi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Cross-Month Carry-Over Analysis (NEW v6)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8412480" cy="0"/>
          </a:xfrm>
          <a:prstGeom prst="line">
            <a:avLst/>
          </a:prstGeom>
          <a:noFill/>
          <a:ln w="31750">
            <a:solidFill>
              <a:srgbClr val="F4D0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789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yang Selama Ini Ada: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1B cuma dicek DALAM 1 bulan.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di tgl 1 tanpa cek bulan lalu.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CSO A kerja 5 hari di akhir bulan lalu → tgl 1 baru auto-assign kerja → 6 hari berturut = PELANGGARAN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4206240" cy="1645920"/>
          </a:xfrm>
          <a:prstGeom prst="roundRect">
            <a:avLst>
              <a:gd name="adj" fmla="val 4444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10789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 (Load Analisis Config):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09160" y="1444752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JSON bulan lalu → sistem hitung carry-over streak tiap CSO dari ujung bulan.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streak = 5 → tgl 1 wajib OFF.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streak &lt; 5 → boleh kerja tgl 1.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8412480" cy="1417320"/>
          </a:xfrm>
          <a:prstGeom prst="roundRect">
            <a:avLst>
              <a:gd name="adj" fmla="val 5161"/>
            </a:avLst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9077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Potensi Violations yang Terdeteksi Lintas Bulan: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5+ hari kerja berturut (R1B) — carry-over + tgl 1 baru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566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3+ OFF berturut (R3) — ujung bulan lalu + awal bulan baru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8587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Violations bulan lalu — ditampilkan untuk referensi operator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4389120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4407408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Upload JSON lama → Analisa panel muncul di Step 1 → CSO list di-load → Operator adjust → Generate bulan baru dengan constraint carry-over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8412480" cy="0"/>
          </a:xfrm>
          <a:prstGeom prst="line">
            <a:avLst/>
          </a:prstGeom>
          <a:noFill/>
          <a:ln w="31750">
            <a:solidFill>
              <a:srgbClr val="F4D0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651760" cy="3703320"/>
          </a:xfrm>
          <a:prstGeom prst="roundRect">
            <a:avLst>
              <a:gd name="adj" fmla="val 275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07899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UI Layer: HTML5 + CSS3 (custom design)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167128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Algorithm: Vanilla JavaScript (ES6+)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825496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I/O: JSON config + CSV export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3483864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Excel: SheetJS (import/export)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27832" y="1005840"/>
            <a:ext cx="2651760" cy="3703320"/>
          </a:xfrm>
          <a:prstGeom prst="roundRect">
            <a:avLst>
              <a:gd name="adj" fmla="val 2759"/>
            </a:avLst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07899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64992" y="150876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HTML file (~200 KB)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64992" y="2167128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backend — zero server cost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64992" y="2825496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privacy: 100% client-side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64992" y="3483864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Browser: Chrome, Firefox, Safari, Edge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9904" y="1005840"/>
            <a:ext cx="2651760" cy="3703320"/>
          </a:xfrm>
          <a:prstGeom prst="roundRect">
            <a:avLst>
              <a:gd name="adj" fmla="val 2759"/>
            </a:avLst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99632" y="107899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v6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27064" y="150876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Save/Load Config JSON (full state)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27064" y="2167128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Load Analisis Config (cross-month)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27064" y="2825496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Shift Report bento cards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27064" y="3483864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 CSO by name (Step 3)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Innovation: Pace-Based Sort + Request Priority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8412480" cy="0"/>
          </a:xfrm>
          <a:prstGeom prst="line">
            <a:avLst/>
          </a:prstGeom>
          <a:noFill/>
          <a:ln w="31750">
            <a:solidFill>
              <a:srgbClr val="F4D0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4069080" cy="3703320"/>
          </a:xfrm>
          <a:prstGeom prst="roundRect">
            <a:avLst>
              <a:gd name="adj" fmla="val 197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789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🏃 Pace-Based Sort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544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sort → OFF menumpuk di akhir bulan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butuh 10+ cycle untuk konvergen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3794760" cy="1234440"/>
          </a:xfrm>
          <a:prstGeom prst="roundRect">
            <a:avLst>
              <a:gd name="adj" fmla="val 5926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71576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99008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Pace = actual rate − target rate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pace → priority OFF dari hari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pace → priority fill shifts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3794760" cy="594360"/>
          </a:xfrm>
          <a:prstGeom prst="roundRect">
            <a:avLst>
              <a:gd name="adj" fmla="val 12308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400507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Spread &lt; 1  •  Phase 3 cuma 3× cycle  •  80-90% waktu lebih cepat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4069080" cy="3703320"/>
          </a:xfrm>
          <a:prstGeom prst="roundRect">
            <a:avLst>
              <a:gd name="adj" fmla="val 197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10789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Request Priority System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92040" y="150876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15544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ACC (Fixed)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182880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confirm → 100% honored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bisa digeser atau di-random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92040" y="2651760"/>
            <a:ext cx="3794760" cy="1234440"/>
          </a:xfrm>
          <a:prstGeom prst="roundRect">
            <a:avLst>
              <a:gd name="adj" fmla="val 5926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0" y="271576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Pending (Smart)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299008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acc jika slot ada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penuh → random antar peminta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kalah: relokasi ke hari lain otomatis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92040" y="3977640"/>
            <a:ext cx="3794760" cy="594360"/>
          </a:xfrm>
          <a:prstGeom prst="roundRect">
            <a:avLst>
              <a:gd name="adj" fmla="val 12308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0" y="400507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Fair  •  ACC 100%  •  Pending best-effort  •  No conflict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Conclusion: 3 Pillars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8412480" cy="0"/>
          </a:xfrm>
          <a:prstGeom prst="line">
            <a:avLst/>
          </a:prstGeom>
          <a:noFill/>
          <a:ln w="31750">
            <a:solidFill>
              <a:srgbClr val="F4D0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7099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 AUTOMATION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Deterministic solver (bukan AI)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7614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Repeatable, explainable, auditable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33101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4-Phase constraint engine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27832" y="10058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27832" y="1051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19272" y="17099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RULE-DRIVEN DESIGN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10712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14 business rules terintegrasi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10712" y="27614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Cross-month carry-over detection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10712" y="33101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Config save/load JSON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9904" y="10058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89904" y="1051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81344" y="17099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&amp; FAIR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72784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&lt; 5 detik vs 4-8 jam manual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72784" y="27614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Mathematically balanced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72784" y="33101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Request priority tier system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407408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44256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4D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"Penjadwalan yang adil, transparan, dan konsisten — dari bulan ke bulan — tanpa human error"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CSO BCA Syariah Scheduler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Production ✓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Rules-Driven  •  Fair  •  Fast  •  Transparent  •  Cross-Month Ready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926080" y="406908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26080" y="4069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  •  14 Rules  •  Config JSON  •  Carry-Over Analysis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CSO BCA Syariah Scheduler</dc:title>
  <dc:subject>PptxGenJS Presentation</dc:subject>
  <dc:creator>PptxGenJS</dc:creator>
  <cp:lastModifiedBy>PptxGenJS</cp:lastModifiedBy>
  <cp:revision>1</cp:revision>
  <dcterms:created xsi:type="dcterms:W3CDTF">2026-06-11T17:20:22Z</dcterms:created>
  <dcterms:modified xsi:type="dcterms:W3CDTF">2026-06-11T17:20:22Z</dcterms:modified>
</cp:coreProperties>
</file>